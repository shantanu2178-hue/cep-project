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47556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475569"/>
                </a:solidFill>
                <a:latin typeface="Arial"/>
              </a:rPr>
              <a:t>Default signal weights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369A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Home test suspected</c:v>
                  </c:pt>
                  <c:pt idx="1">
                    <c:v>Repeat product report</c:v>
                  </c:pt>
                  <c:pt idx="2">
                    <c:v>Repeat batch report</c:v>
                  </c:pt>
                  <c:pt idx="3">
                    <c:v>Evidence attached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failures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CA5A5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Mustard oil</c:v>
                  </c:pt>
                  <c:pt idx="1">
                    <c:v>Rice bran</c:v>
                  </c:pt>
                  <c:pt idx="2">
                    <c:v>Soybean</c:v>
                  </c:pt>
                  <c:pt idx="3">
                    <c:v>Palm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66.7</c:v>
                </c:pt>
                <c:pt idx="1">
                  <c:v>13.3</c:v>
                </c:pt>
                <c:pt idx="2">
                  <c:v>13.3</c:v>
                </c:pt>
                <c:pt idx="3">
                  <c:v>6.7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CA5A5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BD5E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Opening: ADULTERA is a food-safety evidence system. The deck covers what it is, how data flows through it, and why it exists.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structural gaps: no capture path, no aggregation signal, no legal grounding.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batch code is the only shared token. Geographic spread is what distinguishes a systemic batch problem from one bad shop.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connected jobs. The output is a batch-level signal, not a queue of complaints.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Consumer-side capture: sample, test, capture, locate, submit. Evidence is bound to the observation, not reconstructed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path: browser -&gt; edge rewrite -&gt; Lambda -&gt; JSON. Storage: Neon for structured data, Blob for images, tile layer for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Transform stage is where the real work happens: validation, scoring, clustering. Sinks are Postgres, Blob, and the 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 tests across dairy, spices, oils, sweeteners, vegetables and beverages. Each is anchored to a specific regulation or official lab method.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weighted signals. Bands are visible and the breakdown is exposed so the score can be audited.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AND is the whole product. Seven reports from one reporter is not a cluster; three reporters in three cities 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Penalties come from the FSS Act. The survey figures are FSSAI published, not invented.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choice is justified. Nothing exotic: managed Postgres and object storage, no server to maintain.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Being explicit about limits builds more trust than overclaiming. These are real, addressable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core distinction: batch-level signal versus individual complaint.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457200"/>
            <a:ext cx="3108960" cy="3108960"/>
          </a:xfrm>
          <a:prstGeom prst="ellipse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2377440"/>
            <a:ext cx="1737360" cy="1737360"/>
          </a:xfrm>
          <a:prstGeom prst="ellipse">
            <a:avLst/>
          </a:prstGeom>
          <a:solidFill>
            <a:srgbClr val="075985"/>
          </a:solidFill>
          <a:ln/>
        </p:spPr>
      </p:sp>
      <p:sp>
        <p:nvSpPr>
          <p:cNvPr id="4" name="Shape 2"/>
          <p:cNvSpPr/>
          <p:nvPr/>
        </p:nvSpPr>
        <p:spPr>
          <a:xfrm>
            <a:off x="7863840" y="3017520"/>
            <a:ext cx="1005840" cy="100584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4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SAFETY EVIDENCE SYSTEM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93776" y="173736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ADULTERA</a:t>
            </a:r>
            <a:endParaRPr lang="en-US" sz="7600" dirty="0"/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7406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AE6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consumer suspicion into citable, batch-level evidence.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4206240"/>
            <a:ext cx="3931920" cy="713232"/>
          </a:xfrm>
          <a:prstGeom prst="roundRect">
            <a:avLst>
              <a:gd name="adj" fmla="val 10256"/>
            </a:avLst>
          </a:prstGeom>
          <a:solidFill>
            <a:srgbClr val="1E293B"/>
          </a:solidFill>
          <a:ln w="9525">
            <a:solidFill>
              <a:srgbClr val="1E40A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  ·  How it works  ·  Why it exists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989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FSSAI-aligned  ·  React + Express  ·  Neon Postgres  ·  Vercel Blob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Consumers catch adulteration — but their reports are invisible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regulator cannot sample every packet. A consumer can. But what they produce is suspicion, not evidence.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480816" cy="2606040"/>
          </a:xfrm>
          <a:prstGeom prst="roundRect">
            <a:avLst>
              <a:gd name="adj" fmla="val 2807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258568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41248" y="28346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path to make it count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346704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citizen holding a adulterated packet has a hunch. There is no structured way to bind it to a batch number, a place, a date and photographic proof.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40352" y="1965960"/>
            <a:ext cx="3480816" cy="2606040"/>
          </a:xfrm>
          <a:prstGeom prst="roundRect">
            <a:avLst>
              <a:gd name="adj" fmla="val 2807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32960" y="2258568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632960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632960" y="28346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Isolated reports are noise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32960" y="3346704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report of "bad turmeric" is an anecdote. Twelve reports of the same batch across three cities is a traceable supply chain.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132064" y="1965960"/>
            <a:ext cx="3480816" cy="2606040"/>
          </a:xfrm>
          <a:prstGeom prst="roundRect">
            <a:avLst>
              <a:gd name="adj" fmla="val 2807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24672" y="2258568"/>
            <a:ext cx="457200" cy="45720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8424672" y="235915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424672" y="2834640"/>
            <a:ext cx="289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legal context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424672" y="3346704"/>
            <a:ext cx="289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consumer does not know that FSSAI Regulation 2.1.1(7) specifically prohibits turmeric containing any foreign substance — or that §57 carries penalties up to ₹10 lakh.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92040"/>
            <a:ext cx="11064240" cy="841248"/>
          </a:xfrm>
          <a:prstGeom prst="roundRect">
            <a:avLst>
              <a:gd name="adj" fmla="val 8696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663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gap:  </a:t>
            </a:r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converts a private hunch into a record a Food Safety Officer can act on.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INSIGHT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batch number is the fingerprint of an adulteration event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Adulteration is introduced upstream, where a cheap substance is blended into a valuable one. That blending event leaves one trace: a batch code.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80816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293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2932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coarse — a whole brand may be tainted, or only one batch of 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0352" y="1874520"/>
            <a:ext cx="3480816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14672" y="2103120"/>
            <a:ext cx="293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BD5E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614672" y="2487168"/>
            <a:ext cx="2932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 narrow — one shop can serve one bad packet by accident.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132064" y="1874520"/>
            <a:ext cx="3480816" cy="1371600"/>
          </a:xfrm>
          <a:prstGeom prst="roundRect">
            <a:avLst>
              <a:gd name="adj" fmla="val 5333"/>
            </a:avLst>
          </a:prstGeom>
          <a:solidFill>
            <a:srgbClr val="0C4A6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06384" y="2103120"/>
            <a:ext cx="293217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Batch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06384" y="2487168"/>
            <a:ext cx="29321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only token shared by the adulterated product and its source.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5204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geography is the second signal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1417320" y="4023360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4572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packet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154680" y="4023360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18" name="Text 16"/>
          <p:cNvSpPr/>
          <p:nvPr/>
        </p:nvSpPr>
        <p:spPr>
          <a:xfrm>
            <a:off x="2834640" y="4572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packet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892040" y="4023360"/>
            <a:ext cx="457200" cy="457200"/>
          </a:xfrm>
          <a:prstGeom prst="ellipse">
            <a:avLst/>
          </a:prstGeom>
          <a:solidFill>
            <a:srgbClr val="334155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0" y="4572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packet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051560" y="4828032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accidental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897880" y="4078224"/>
            <a:ext cx="566928" cy="256032"/>
          </a:xfrm>
          <a:prstGeom prst="rightArrow">
            <a:avLst/>
          </a:prstGeom>
          <a:solidFill>
            <a:srgbClr val="334155"/>
          </a:solidFill>
          <a:ln/>
        </p:spPr>
      </p:sp>
      <p:sp>
        <p:nvSpPr>
          <p:cNvPr id="23" name="Shape 21"/>
          <p:cNvSpPr/>
          <p:nvPr/>
        </p:nvSpPr>
        <p:spPr>
          <a:xfrm>
            <a:off x="7178040" y="4023360"/>
            <a:ext cx="457200" cy="457200"/>
          </a:xfrm>
          <a:prstGeom prst="ellipse">
            <a:avLst/>
          </a:prstGeom>
          <a:solidFill>
            <a:srgbClr val="7F1D1D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0" y="4572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Pune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915400" y="40233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6" name="Text 24"/>
          <p:cNvSpPr/>
          <p:nvPr/>
        </p:nvSpPr>
        <p:spPr>
          <a:xfrm>
            <a:off x="8595360" y="4572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Mumbai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10652760" y="40233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6"/>
          <p:cNvSpPr/>
          <p:nvPr/>
        </p:nvSpPr>
        <p:spPr>
          <a:xfrm>
            <a:off x="10332720" y="4572000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Nashik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812280" y="4828032"/>
            <a:ext cx="5394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batch code  →  systemic to the batch, not the shop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548640" y="534924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0C4A6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" y="5605272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consequence:  </a:t>
            </a:r>
            <a:pPr indent="0" marL="0">
              <a:buNone/>
            </a:pPr>
            <a:r>
              <a:rPr lang="en-US" sz="130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cluster alert requires BOTH enough reports AND geographic spread — never reports alone.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jobs, one connected pipeline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 a test, score the result, cluster the pattern, preserve the evidence.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31620" y="2286000"/>
            <a:ext cx="566928" cy="566928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531620" y="2410724"/>
            <a:ext cx="566928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49808" y="303580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749808" y="343814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4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Library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49808" y="374904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home-based chemical tests. Reagents, procedure, expected pure colour, expected adulterated colour, safety warnings.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392424" y="201168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5404" y="2286000"/>
            <a:ext cx="566928" cy="566928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3" name="Text 11"/>
          <p:cNvSpPr/>
          <p:nvPr/>
        </p:nvSpPr>
        <p:spPr>
          <a:xfrm>
            <a:off x="4375404" y="2410724"/>
            <a:ext cx="566928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593592" y="303580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3593592" y="343814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4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593592" y="374904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weighted signals produce a 0–100 score and a LOW → CRITICAL band, with a full point breakdown.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36208" y="201168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219188" y="2286000"/>
            <a:ext cx="566928" cy="56692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7219188" y="2410724"/>
            <a:ext cx="566928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37376" y="303580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Cluster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6437376" y="343814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4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Detection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37376" y="374904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Reports sharing a batch code are grouped. Alert requires report count AND geographic spread.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079992" y="2011680"/>
            <a:ext cx="2532888" cy="3017520"/>
          </a:xfrm>
          <a:prstGeom prst="roundRect">
            <a:avLst>
              <a:gd name="adj" fmla="val 2888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062972" y="2286000"/>
            <a:ext cx="566928" cy="566928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062972" y="2410724"/>
            <a:ext cx="566928" cy="31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81160" y="3035808"/>
            <a:ext cx="2130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Preserve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9281160" y="3438144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4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Vault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281160" y="3749040"/>
            <a:ext cx="21305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case becomes a dated, geo-tagged, evidence-backed record in PostgreSQL.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0369A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unit of insight is the batch — not the complaint. That is what separates this from a complaint portal.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· 1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data comes from — citizen capture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stages on the consumer side. Each stage emits a specific, named data artefact.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6384" y="21579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786384" y="2250521"/>
            <a:ext cx="42062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86384" y="2697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99923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+ batch label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86384" y="329184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physical packet, and the batch code printed on 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587752" y="2907792"/>
            <a:ext cx="182880" cy="219456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2" name="Shape 10"/>
          <p:cNvSpPr/>
          <p:nvPr/>
        </p:nvSpPr>
        <p:spPr>
          <a:xfrm>
            <a:off x="2816352" y="192024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054096" y="21579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4" name="Text 12"/>
          <p:cNvSpPr/>
          <p:nvPr/>
        </p:nvSpPr>
        <p:spPr>
          <a:xfrm>
            <a:off x="3054096" y="2250521"/>
            <a:ext cx="42062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54096" y="2697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054096" y="299923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Chemical reaction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054096" y="329184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Reagent, timing, and the observed colour reaction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55464" y="2907792"/>
            <a:ext cx="182880" cy="219456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9" name="Shape 17"/>
          <p:cNvSpPr/>
          <p:nvPr/>
        </p:nvSpPr>
        <p:spPr>
          <a:xfrm>
            <a:off x="5084064" y="192024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321808" y="21579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1" name="Text 19"/>
          <p:cNvSpPr/>
          <p:nvPr/>
        </p:nvSpPr>
        <p:spPr>
          <a:xfrm>
            <a:off x="5321808" y="2250521"/>
            <a:ext cx="42062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21808" y="2697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Capture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321808" y="299923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Photographs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321808" y="329184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batch label, test result, receipt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7123176" y="2907792"/>
            <a:ext cx="182880" cy="219456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6" name="Shape 24"/>
          <p:cNvSpPr/>
          <p:nvPr/>
        </p:nvSpPr>
        <p:spPr>
          <a:xfrm>
            <a:off x="7351776" y="192024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21579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8" name="Text 26"/>
          <p:cNvSpPr/>
          <p:nvPr/>
        </p:nvSpPr>
        <p:spPr>
          <a:xfrm>
            <a:off x="7589520" y="2250521"/>
            <a:ext cx="42062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589520" y="2697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Locate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589520" y="299923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GPS + address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589520" y="329184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City, area, lat/lng captured with the report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9390888" y="2907792"/>
            <a:ext cx="182880" cy="219456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33" name="Shape 31"/>
          <p:cNvSpPr/>
          <p:nvPr/>
        </p:nvSpPr>
        <p:spPr>
          <a:xfrm>
            <a:off x="9619488" y="1920240"/>
            <a:ext cx="1993392" cy="2148840"/>
          </a:xfrm>
          <a:prstGeom prst="roundRect">
            <a:avLst>
              <a:gd name="adj" fmla="val 367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857232" y="2157984"/>
            <a:ext cx="420624" cy="42062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5" name="Text 33"/>
          <p:cNvSpPr/>
          <p:nvPr/>
        </p:nvSpPr>
        <p:spPr>
          <a:xfrm>
            <a:off x="9857232" y="2250521"/>
            <a:ext cx="420624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857232" y="2697480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Submit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9857232" y="299923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payload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9857232" y="3291840"/>
            <a:ext cx="151790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Product, brand, category, finding, evidence URLs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434340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F172A"/>
          </a:solidFill>
          <a:ln w="9525">
            <a:solidFill>
              <a:srgbClr val="0F172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68680" y="4572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6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EVERY ARTEFACT IS CAPTURED AT TEST TIME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68680" y="489204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home test is only meaningful with its colour reaction, its batch label and its location attached. Evidence captured later is recollection; evidence captured at the moment of the test is a record.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FLOW · 2 OF 2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moves — request path and storage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395728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20574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Browser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3957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SPA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relative fetch("/api/…")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999232" y="2450592"/>
            <a:ext cx="384048" cy="219456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8" name="Shape 6"/>
          <p:cNvSpPr/>
          <p:nvPr/>
        </p:nvSpPr>
        <p:spPr>
          <a:xfrm>
            <a:off x="3438144" y="1874520"/>
            <a:ext cx="2395728" cy="1371600"/>
          </a:xfrm>
          <a:prstGeom prst="roundRect">
            <a:avLst>
              <a:gd name="adj" fmla="val 5333"/>
            </a:avLst>
          </a:prstGeom>
          <a:solidFill>
            <a:srgbClr val="0C4A6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66744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Edge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666744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rewrites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/api/* → function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/* → index.html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888736" y="2450592"/>
            <a:ext cx="384048" cy="219456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12" name="Shape 10"/>
          <p:cNvSpPr/>
          <p:nvPr/>
        </p:nvSpPr>
        <p:spPr>
          <a:xfrm>
            <a:off x="6327648" y="1874520"/>
            <a:ext cx="2395728" cy="1371600"/>
          </a:xfrm>
          <a:prstGeom prst="roundRect">
            <a:avLst>
              <a:gd name="adj" fmla="val 5333"/>
            </a:avLst>
          </a:prstGeom>
          <a:solidFill>
            <a:srgbClr val="0C4A6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56248" y="20574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D3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Lambda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56248" y="2395728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api/index.js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Express · risk · cluster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 · Prisma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778240" y="2450592"/>
            <a:ext cx="384048" cy="219456"/>
          </a:xfrm>
          <a:prstGeom prst="rightArrow">
            <a:avLst/>
          </a:prstGeom>
          <a:solidFill>
            <a:srgbClr val="0EA5E9"/>
          </a:solidFill>
          <a:ln/>
        </p:spPr>
      </p:sp>
      <p:sp>
        <p:nvSpPr>
          <p:cNvPr id="16" name="Shape 14"/>
          <p:cNvSpPr/>
          <p:nvPr/>
        </p:nvSpPr>
        <p:spPr>
          <a:xfrm>
            <a:off x="9217152" y="1874520"/>
            <a:ext cx="2395728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445752" y="20574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445752" y="2395728"/>
            <a:ext cx="1938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 to UI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" y="3611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97764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4672" y="420624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2" name="Text 20"/>
          <p:cNvSpPr/>
          <p:nvPr/>
        </p:nvSpPr>
        <p:spPr>
          <a:xfrm>
            <a:off x="1225296" y="42245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Neon Postgres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804672" y="461772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Cases + Config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04672" y="4901184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Durable structured record. Composite key PRODUCT:::BATCH drives clustering.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334256" y="397764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90288" y="420624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27" name="Text 25"/>
          <p:cNvSpPr/>
          <p:nvPr/>
        </p:nvSpPr>
        <p:spPr>
          <a:xfrm>
            <a:off x="5010912" y="42245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 Blob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4590288" y="461772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images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90288" y="4901184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OIDC-authenticated object storage; CDN-hosted public URLs.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19872" y="3977640"/>
            <a:ext cx="3493008" cy="1737360"/>
          </a:xfrm>
          <a:prstGeom prst="roundRect">
            <a:avLst>
              <a:gd name="adj" fmla="val 4211"/>
            </a:avLst>
          </a:prstGeom>
          <a:solidFill>
            <a:srgbClr val="1E293B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75904" y="4206240"/>
            <a:ext cx="310896" cy="310896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32" name="Text 30"/>
          <p:cNvSpPr/>
          <p:nvPr/>
        </p:nvSpPr>
        <p:spPr>
          <a:xfrm>
            <a:off x="8796528" y="4224528"/>
            <a:ext cx="25786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MapTiler / OSM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8375904" y="4617720"/>
            <a:ext cx="29809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Tile layer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75904" y="4901184"/>
            <a:ext cx="29809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Raster tiles. Runtime fallback to OpenStreetMap if the key is absent.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relative base URL serves both localhost (Vite proxy) and production (edge rewrite) — the same build works in both.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happens to the payload between submit and map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 → transform → sink. Every write is traceable to one of these stages.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3413760" cy="3200400"/>
          </a:xfrm>
          <a:prstGeom prst="roundRect">
            <a:avLst>
              <a:gd name="adj" fmla="val 2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03120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359152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form JSON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45643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Multipart image buffer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3986784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coordinates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517136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identity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044696" y="3291840"/>
            <a:ext cx="246888" cy="219456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13" name="Shape 11"/>
          <p:cNvSpPr/>
          <p:nvPr/>
        </p:nvSpPr>
        <p:spPr>
          <a:xfrm>
            <a:off x="4373880" y="1874520"/>
            <a:ext cx="3413760" cy="3200400"/>
          </a:xfrm>
          <a:prstGeom prst="roundRect">
            <a:avLst>
              <a:gd name="adj" fmla="val 2286"/>
            </a:avLst>
          </a:prstGeom>
          <a:solidFill>
            <a:srgbClr val="E0F2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8200" y="2103120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48200" y="2359152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Compute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64820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multer validates MIME + 10 MB cap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648200" y="345643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put() → Blob, returns CDN URL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648200" y="3986784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score from 4 weighted signals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48200" y="4517136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key PRODUCT:::BATCH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869936" y="3291840"/>
            <a:ext cx="246888" cy="219456"/>
          </a:xfrm>
          <a:prstGeom prst="rightArrow">
            <a:avLst/>
          </a:prstGeom>
          <a:solidFill>
            <a:srgbClr val="94A3B8"/>
          </a:solidFill>
          <a:ln/>
        </p:spPr>
      </p:sp>
      <p:sp>
        <p:nvSpPr>
          <p:cNvPr id="21" name="Shape 19"/>
          <p:cNvSpPr/>
          <p:nvPr/>
        </p:nvSpPr>
        <p:spPr>
          <a:xfrm>
            <a:off x="8199120" y="1874520"/>
            <a:ext cx="3413760" cy="3200400"/>
          </a:xfrm>
          <a:prstGeom prst="roundRect">
            <a:avLst>
              <a:gd name="adj" fmla="val 2286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73440" y="2103120"/>
            <a:ext cx="2865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473440" y="2359152"/>
            <a:ext cx="286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473440" y="2926080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Neon: Case row written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473440" y="3456432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Blob: evidence image stored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473440" y="3986784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Map: circleMarker plotted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473440" y="4517136"/>
            <a:ext cx="2865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Vault: record listed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5349240"/>
            <a:ext cx="11064240" cy="822960"/>
          </a:xfrm>
          <a:prstGeom prst="roundRect">
            <a:avLst>
              <a:gd name="adj" fmla="val 8889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56235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containment:  </a:t>
            </a:r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cluster that loses one citizen still survives — the cluster key is the batch code, not the reporter.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 tests, each mapped to the law it engages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entry links to an FSSAI prohibition or an official laboratory method.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49808" y="2121408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031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49808" y="24688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Starch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808" y="28346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2.1.1(2)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816352" y="19202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2121408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2" name="Text 10"/>
          <p:cNvSpPr/>
          <p:nvPr/>
        </p:nvSpPr>
        <p:spPr>
          <a:xfrm>
            <a:off x="3364992" y="21031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Turmeric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017520" y="24688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Metanil Yellow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017520" y="28346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2.1.1(7)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84064" y="19202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85232" y="2121408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7" name="Text 15"/>
          <p:cNvSpPr/>
          <p:nvPr/>
        </p:nvSpPr>
        <p:spPr>
          <a:xfrm>
            <a:off x="5632704" y="21031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Honey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285232" y="24688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Invert Sugar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285232" y="28346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2.3.3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351776" y="19202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552944" y="2121408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2" name="Text 20"/>
          <p:cNvSpPr/>
          <p:nvPr/>
        </p:nvSpPr>
        <p:spPr>
          <a:xfrm>
            <a:off x="7900416" y="21031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Mustard Oil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7552944" y="24688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Argemone Oil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552944" y="28346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III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9619488" y="1920240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20656" y="2121408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27" name="Text 25"/>
          <p:cNvSpPr/>
          <p:nvPr/>
        </p:nvSpPr>
        <p:spPr>
          <a:xfrm>
            <a:off x="10168128" y="2103120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 Chilli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9820656" y="2468880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Rhodamine B + Brick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9820656" y="2834640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IV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3758184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" y="3959352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3941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 Peas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49808" y="43068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Malachite Green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49808" y="467258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2.3.6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816352" y="3758184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017520" y="3959352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37" name="Text 35"/>
          <p:cNvSpPr/>
          <p:nvPr/>
        </p:nvSpPr>
        <p:spPr>
          <a:xfrm>
            <a:off x="3364992" y="3941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Black Pepper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3017520" y="43068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Papaya Seeds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3017520" y="467258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Extraneous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084064" y="3758184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285232" y="3959352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2" name="Text 40"/>
          <p:cNvSpPr/>
          <p:nvPr/>
        </p:nvSpPr>
        <p:spPr>
          <a:xfrm>
            <a:off x="5632704" y="3941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Coffee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285232" y="43068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Unlabelled Chicory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5285232" y="467258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2.1.1(8)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51776" y="3758184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552944" y="3959352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47" name="Text 45"/>
          <p:cNvSpPr/>
          <p:nvPr/>
        </p:nvSpPr>
        <p:spPr>
          <a:xfrm>
            <a:off x="7900416" y="3941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 Leaves</a:t>
            </a:r>
            <a:endParaRPr lang="en-US" sz="1250" dirty="0"/>
          </a:p>
        </p:txBody>
      </p:sp>
      <p:sp>
        <p:nvSpPr>
          <p:cNvPr id="48" name="Text 46"/>
          <p:cNvSpPr/>
          <p:nvPr/>
        </p:nvSpPr>
        <p:spPr>
          <a:xfrm>
            <a:off x="7552944" y="43068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Coal-tar Dye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7552944" y="467258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Non-permitted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9619488" y="3758184"/>
            <a:ext cx="1993392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820656" y="3959352"/>
            <a:ext cx="274320" cy="27432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2" name="Text 50"/>
          <p:cNvSpPr/>
          <p:nvPr/>
        </p:nvSpPr>
        <p:spPr>
          <a:xfrm>
            <a:off x="10168128" y="3941064"/>
            <a:ext cx="1243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Ghee</a:t>
            </a:r>
            <a:endParaRPr lang="en-US" sz="1250" dirty="0"/>
          </a:p>
        </p:txBody>
      </p:sp>
      <p:sp>
        <p:nvSpPr>
          <p:cNvPr id="53" name="Text 51"/>
          <p:cNvSpPr/>
          <p:nvPr/>
        </p:nvSpPr>
        <p:spPr>
          <a:xfrm>
            <a:off x="9820656" y="4306824"/>
            <a:ext cx="1591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Vanaspati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9820656" y="4672584"/>
            <a:ext cx="1591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2.1.1(6)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548640" y="571500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tests are a screen that produces reasonable suspicion — only a notified laboratory result constitutes legal proof.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Weighted risk, with the arithmetic exposed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signals, capped at 100. Weights are tunable at runtime via /api/config.</a:t>
            </a:r>
            <a:endParaRPr lang="en-US" sz="12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965960"/>
          <a:ext cx="603504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85800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bands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858000" y="2377440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059168" y="2514600"/>
            <a:ext cx="237744" cy="237744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9" name="Text 6"/>
          <p:cNvSpPr/>
          <p:nvPr/>
        </p:nvSpPr>
        <p:spPr>
          <a:xfrm>
            <a:off x="7406640" y="250545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418320" y="252374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– 34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0" y="2980944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059168" y="3118104"/>
            <a:ext cx="237744" cy="237744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13" name="Text 10"/>
          <p:cNvSpPr/>
          <p:nvPr/>
        </p:nvSpPr>
        <p:spPr>
          <a:xfrm>
            <a:off x="7406640" y="31089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9418320" y="3127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 – 59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858000" y="3584448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59168" y="3721608"/>
            <a:ext cx="237744" cy="237744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7406640" y="371246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9418320" y="3730752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 – 79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0" y="4187952"/>
            <a:ext cx="4754880" cy="512064"/>
          </a:xfrm>
          <a:prstGeom prst="roundRect">
            <a:avLst>
              <a:gd name="adj" fmla="val 14286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059168" y="4325112"/>
            <a:ext cx="237744" cy="237744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1" name="Text 18"/>
          <p:cNvSpPr/>
          <p:nvPr/>
        </p:nvSpPr>
        <p:spPr>
          <a:xfrm>
            <a:off x="7406640" y="431596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418320" y="43342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 – 100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6858000" y="4937760"/>
            <a:ext cx="4754880" cy="960120"/>
          </a:xfrm>
          <a:prstGeom prst="roundRect">
            <a:avLst>
              <a:gd name="adj" fmla="val 7619"/>
            </a:avLst>
          </a:prstGeom>
          <a:solidFill>
            <a:srgbClr val="E0F2FE"/>
          </a:solidFill>
          <a:ln w="9525">
            <a:solidFill>
              <a:srgbClr val="7DD3FC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086600" y="5175504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Transparency:  </a:t>
            </a:r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preview endpoint returns a per-signal point breakdown, so a score is auditable rather than a black box.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DETECTION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condition that makes a cluster credible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 count alone is not evidence of a supply-chain problem. Both conditions must hold.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4672" y="2194560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7160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Reports ≥ threshold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reports on the same batch code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0" y="1965960"/>
            <a:ext cx="2926080" cy="1417320"/>
          </a:xfrm>
          <a:prstGeom prst="roundRect">
            <a:avLst>
              <a:gd name="adj" fmla="val 5161"/>
            </a:avLst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70832" y="2194560"/>
            <a:ext cx="457200" cy="45720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2" name="Text 10"/>
          <p:cNvSpPr/>
          <p:nvPr/>
        </p:nvSpPr>
        <p:spPr>
          <a:xfrm>
            <a:off x="4370832" y="229514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2128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Geographic spread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370832" y="27432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unique areas — or 3 unique citizens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0" y="2450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0" y="1965960"/>
            <a:ext cx="4297680" cy="1417320"/>
          </a:xfrm>
          <a:prstGeom prst="roundRect">
            <a:avLst>
              <a:gd name="adj" fmla="val 5161"/>
            </a:avLst>
          </a:prstGeom>
          <a:solidFill>
            <a:srgbClr val="0F172A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43800" y="2148840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ALERT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543800" y="25146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Escalation-worthy. Batch-level, not shop-level.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36576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same batch behaves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416052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city, 1 reporter, 7 reports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160520" y="428853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4288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alert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583680" y="416052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visits to one bad shop — not a supply-chain signal.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4937760"/>
            <a:ext cx="1106424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02920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cities, 3 reporters, 3 reports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160520" y="5157216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+ 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074920" y="515721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ALERT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583680" y="5029200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witnesses converged on the same batch code.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548640" y="59436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key: PRODUCT:::BATCH, uppercased and trimmed. "N/A" batches are excluded.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LEGAL GROUNDING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Anchored to statute, not folklore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content is sourced from FSSAI and Government of India primary documents, and every claim links to its official PDF.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7830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Penalties under the FSS Act, 2006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76272"/>
            <a:ext cx="5852160" cy="475488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94944" y="230428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§57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1508760" y="2313432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Adulterant not injurious to health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06240" y="2313432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₹2,00,000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48640" y="2743200"/>
            <a:ext cx="5852160" cy="475488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/>
        </p:spPr>
      </p:sp>
      <p:sp>
        <p:nvSpPr>
          <p:cNvPr id="11" name="Text 9"/>
          <p:cNvSpPr/>
          <p:nvPr/>
        </p:nvSpPr>
        <p:spPr>
          <a:xfrm>
            <a:off x="694944" y="28712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§57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Adulterant injurious to health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06240" y="2880360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₹10,00,000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3310128"/>
            <a:ext cx="5852160" cy="475488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94944" y="343814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§59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508760" y="3447288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Selling unsafe food — first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06240" y="3447288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yrs / ₹5,00,000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3877056"/>
            <a:ext cx="5852160" cy="475488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/>
        </p:spPr>
      </p:sp>
      <p:sp>
        <p:nvSpPr>
          <p:cNvPr id="19" name="Text 17"/>
          <p:cNvSpPr/>
          <p:nvPr/>
        </p:nvSpPr>
        <p:spPr>
          <a:xfrm>
            <a:off x="694944" y="40050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§59(2)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508760" y="4014216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Subsequent conviction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06240" y="4014216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yrs / ₹10 lakh + licence cancelled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4443984"/>
            <a:ext cx="5852160" cy="475488"/>
          </a:xfrm>
          <a:prstGeom prst="roundRect">
            <a:avLst>
              <a:gd name="adj" fmla="val 9615"/>
            </a:avLst>
          </a:prstGeom>
          <a:solidFill>
            <a:srgbClr val="1E293B"/>
          </a:solidFill>
          <a:ln/>
        </p:spPr>
      </p:sp>
      <p:sp>
        <p:nvSpPr>
          <p:cNvPr id="23" name="Text 21"/>
          <p:cNvSpPr/>
          <p:nvPr/>
        </p:nvSpPr>
        <p:spPr>
          <a:xfrm>
            <a:off x="694944" y="457200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§65A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508760" y="45811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Consumer compensation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06240" y="4581144"/>
            <a:ext cx="1965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CA5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₹50,000 – ₹10,00,000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20840" y="1783080"/>
            <a:ext cx="4892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FSSAI All-India Edible Oil Survey, January 2022 — argemone oil</a:t>
            </a:r>
            <a:endParaRPr lang="en-US" sz="1300" dirty="0"/>
          </a:p>
        </p:txBody>
      </p:sp>
      <p:graphicFrame>
        <p:nvGraphicFramePr>
          <p:cNvPr id="27" name="Chart 0" descr=""/>
          <p:cNvGraphicFramePr/>
          <p:nvPr/>
        </p:nvGraphicFramePr>
        <p:xfrm>
          <a:off x="6583680" y="2103120"/>
          <a:ext cx="5029200" cy="2514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8" name="Text 25"/>
          <p:cNvSpPr/>
          <p:nvPr/>
        </p:nvSpPr>
        <p:spPr>
          <a:xfrm>
            <a:off x="6720840" y="4681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0.34% of 4,433 samples tested positive for argemone oil.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548640" y="5230368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0C4A6E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868680" y="553212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Positioning:  </a:t>
            </a:r>
            <a:pPr indent="0" marL="0">
              <a:buNone/>
            </a:pPr>
            <a:r>
              <a:rPr lang="en-US" sz="1250" dirty="0">
                <a:solidFill>
                  <a:srgbClr val="E0F2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tool makes a suspicion citable. It does not claim to replace a notified laboratory.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choices, and why each one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Chosen for a cold-start deploy with no infrastructure to babysit.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8096" y="213969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215798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768096" y="248716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React 18 · Vite 6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8096" y="28529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routing, no router dependency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383280" y="19202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02736" y="213969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2" name="Text 10"/>
          <p:cNvSpPr/>
          <p:nvPr/>
        </p:nvSpPr>
        <p:spPr>
          <a:xfrm>
            <a:off x="3931920" y="215798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STYLING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02736" y="248716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Tailwind CSS 3.4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602736" y="28529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palette: surface / brand / danger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217920" y="19202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37376" y="2139696"/>
            <a:ext cx="256032" cy="256032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215798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37376" y="248716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Leaflet 1.9 · MapTiler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37376" y="28529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OSM fallback if key absent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9052560" y="1920240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272016" y="2139696"/>
            <a:ext cx="256032" cy="256032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0" y="2157984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9272016" y="2487168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Express 4 · Node 24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272016" y="285292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Identical routes for local + serverless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3849624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8096" y="406908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27" name="Text 25"/>
          <p:cNvSpPr/>
          <p:nvPr/>
        </p:nvSpPr>
        <p:spPr>
          <a:xfrm>
            <a:off x="1097280" y="408736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68096" y="441655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Prisma 6 · Neon Postgres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768096" y="47823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columns for variable evidence shape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383280" y="3849624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02736" y="4069080"/>
            <a:ext cx="256032" cy="256032"/>
          </a:xfrm>
          <a:prstGeom prst="ellipse">
            <a:avLst/>
          </a:prstGeom>
          <a:solidFill>
            <a:srgbClr val="16A34A"/>
          </a:solidFill>
          <a:ln/>
        </p:spPr>
      </p:sp>
      <p:sp>
        <p:nvSpPr>
          <p:cNvPr id="32" name="Text 30"/>
          <p:cNvSpPr/>
          <p:nvPr/>
        </p:nvSpPr>
        <p:spPr>
          <a:xfrm>
            <a:off x="3931920" y="408736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602736" y="441655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@vercel/blob 2.8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3602736" y="47823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OIDC auth; no static token needed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217920" y="3849624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37376" y="406908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6766560" y="408736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HOSTING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37376" y="441655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Vercel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437376" y="47823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 + Lambda from one repository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052560" y="3849624"/>
            <a:ext cx="2560320" cy="1691640"/>
          </a:xfrm>
          <a:prstGeom prst="roundRect">
            <a:avLst>
              <a:gd name="adj" fmla="val 432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72016" y="4069080"/>
            <a:ext cx="256032" cy="256032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2" name="Text 40"/>
          <p:cNvSpPr/>
          <p:nvPr/>
        </p:nvSpPr>
        <p:spPr>
          <a:xfrm>
            <a:off x="9601200" y="4087368"/>
            <a:ext cx="18105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2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UPLOADS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9272016" y="4416552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multer 2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9272016" y="4782312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MIME allow-list, 10 MB cap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relative API base URL means the same build runs locally behind a Vite proxy and in production behind an edge rewrite.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0369A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does not yet do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Stated plainly, because a system that overstates its own evidence is the problem it is trying to solve.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87452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 TODAY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6263640" y="1874520"/>
            <a:ext cx="534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48640" y="2240280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350008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Home tests are screens, not proof — colour reactions are confounded by lighting and device white balance.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026664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86384" y="3136392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authentication. Anyone can file, so the dataset is unauthenticated and gameable.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3813048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3922776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 numbers are self-reported, so a misread code fragments a genuine cluster.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4599432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86384" y="4709160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matching is an exact string compare. "T24091" and "T-24091" do not match.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385816"/>
            <a:ext cx="5349240" cy="713232"/>
          </a:xfrm>
          <a:prstGeom prst="roundRect">
            <a:avLst>
              <a:gd name="adj" fmla="val 10256"/>
            </a:avLst>
          </a:prstGeom>
          <a:solidFill>
            <a:srgbClr val="FEE2E2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6384" y="5495544"/>
            <a:ext cx="487375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weights are heuristics, not calibrated against lab outcomes.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263640" y="224028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01384" y="2340864"/>
            <a:ext cx="4873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OCR-assisted batch capture to reduce misreads and automate evidence.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88036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01384" y="2980944"/>
            <a:ext cx="4873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Citizen sign-in plus Food Safety Officer verification on triage.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263640" y="352044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01384" y="3621024"/>
            <a:ext cx="4873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Fuzzy batch matching and normalising OCR output.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63640" y="416052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01384" y="4261104"/>
            <a:ext cx="4873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PWA install and offline test procedures for low-connectivity users.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263640" y="480060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01384" y="4901184"/>
            <a:ext cx="4873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Officer dashboard with jurisdiction-scoped cluster triage.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263640" y="5440680"/>
            <a:ext cx="5349240" cy="566928"/>
          </a:xfrm>
          <a:prstGeom prst="roundRect">
            <a:avLst>
              <a:gd name="adj" fmla="val 12903"/>
            </a:avLst>
          </a:prstGeom>
          <a:solidFill>
            <a:srgbClr val="DCFCE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01384" y="5541264"/>
            <a:ext cx="4873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WhatsApp alerts when a batch you reported is later confirmed.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640080"/>
            <a:ext cx="2743200" cy="2743200"/>
          </a:xfrm>
          <a:prstGeom prst="ellipse">
            <a:avLst/>
          </a:prstGeom>
          <a:solidFill>
            <a:srgbClr val="0C4A6E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2377440"/>
            <a:ext cx="1463040" cy="1463040"/>
          </a:xfrm>
          <a:prstGeom prst="ellipse">
            <a:avLst/>
          </a:prstGeom>
          <a:solidFill>
            <a:srgbClr val="075985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0" y="2926080"/>
            <a:ext cx="822960" cy="822960"/>
          </a:xfrm>
          <a:prstGeom prst="ellipse">
            <a:avLst/>
          </a:prstGeom>
          <a:solidFill>
            <a:srgbClr val="0369A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EXISTS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17830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packet is a consumer problem.</a:t>
            </a:r>
            <a:endParaRPr lang="en-US" sz="2700" dirty="0"/>
          </a:p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packets across three cities is a supply-chain problem.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548640" y="3429000"/>
            <a:ext cx="7498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system exists to make that distinction visible — and to hand a Food Safety Officer a record they can actually act on.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44805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cases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103120" y="4343400"/>
            <a:ext cx="155448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03120" y="4480560"/>
            <a:ext cx="1554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clusters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794760" y="4343400"/>
            <a:ext cx="189738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94760" y="4480560"/>
            <a:ext cx="18973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active alerts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29300" y="4343400"/>
            <a:ext cx="14173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29300" y="4480560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tests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383780" y="4343400"/>
            <a:ext cx="1760220" cy="45720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9525">
            <a:solidFill>
              <a:srgbClr val="0369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83780" y="4480560"/>
            <a:ext cx="17602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BAE6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FSSAI-aligned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48640" y="5257800"/>
            <a:ext cx="786384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 w="9525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4772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7DD3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cep-project-n4s1.vercel.app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ADULTERA — Food Safety Evidence System</dc:title>
  <dc:subject>PptxGenJS Presentation</dc:subject>
  <dc:creator>ADULTERA</dc:creator>
  <cp:lastModifiedBy>ADULTERA</cp:lastModifiedBy>
  <cp:revision>1</cp:revision>
  <dcterms:created xsi:type="dcterms:W3CDTF">2026-10-15T09:34:42Z</dcterms:created>
  <dcterms:modified xsi:type="dcterms:W3CDTF">2026-10-15T09:34:42Z</dcterms:modified>
</cp:coreProperties>
</file>